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0" y="10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5440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6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21.png"/><Relationship Id="rId5" Type="http://schemas.openxmlformats.org/officeDocument/2006/relationships/image" Target="../media/image16.png"/><Relationship Id="rId10" Type="http://schemas.openxmlformats.org/officeDocument/2006/relationships/image" Target="../media/image19.png"/><Relationship Id="rId4" Type="http://schemas.openxmlformats.org/officeDocument/2006/relationships/image" Target="../media/image5.png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0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15.png"/><Relationship Id="rId9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26080" y="-2926080"/>
            <a:ext cx="8229600" cy="8229600"/>
          </a:xfrm>
          <a:prstGeom prst="ellipse">
            <a:avLst/>
          </a:prstGeom>
          <a:solidFill>
            <a:srgbClr val="13324A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7315200" cy="7315200"/>
          </a:xfrm>
          <a:prstGeom prst="ellipse">
            <a:avLst/>
          </a:prstGeom>
          <a:solidFill>
            <a:srgbClr val="0E2A3D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-2286000"/>
            <a:ext cx="5486400" cy="5486400"/>
          </a:xfrm>
          <a:prstGeom prst="ellipse">
            <a:avLst/>
          </a:prstGeom>
          <a:solidFill>
            <a:srgbClr val="112E44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0" y="-1828800"/>
            <a:ext cx="7772400" cy="7772400"/>
          </a:xfrm>
          <a:prstGeom prst="ellipse">
            <a:avLst/>
          </a:prstGeom>
          <a:ln w="12700">
            <a:solidFill>
              <a:srgbClr val="224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0" y="-914400"/>
            <a:ext cx="6035040" cy="6035040"/>
          </a:xfrm>
          <a:prstGeom prst="ellipse">
            <a:avLst/>
          </a:prstGeom>
          <a:ln w="12700">
            <a:solidFill>
              <a:srgbClr val="224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2377440" y="4206240"/>
            <a:ext cx="5669280" cy="5669280"/>
          </a:xfrm>
          <a:prstGeom prst="ellipse">
            <a:avLst/>
          </a:prstGeom>
          <a:ln w="12700">
            <a:solidFill>
              <a:srgbClr val="224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1463040" y="5120640"/>
            <a:ext cx="3840480" cy="3840480"/>
          </a:xfrm>
          <a:prstGeom prst="ellipse">
            <a:avLst/>
          </a:prstGeom>
          <a:ln w="12700">
            <a:solidFill>
              <a:srgbClr val="224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-1463040"/>
            <a:ext cx="5120640" cy="5120640"/>
          </a:xfrm>
          <a:prstGeom prst="ellipse">
            <a:avLst/>
          </a:prstGeom>
          <a:ln w="30480">
            <a:solidFill>
              <a:srgbClr val="4DE8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548640"/>
            <a:ext cx="54864" cy="54864"/>
          </a:xfrm>
          <a:prstGeom prst="ellipse">
            <a:avLst/>
          </a:prstGeom>
          <a:solidFill>
            <a:srgbClr val="3FBAC2"/>
          </a:solidFill>
          <a:ln/>
        </p:spPr>
      </p:sp>
      <p:sp>
        <p:nvSpPr>
          <p:cNvPr id="11" name="Shape 9"/>
          <p:cNvSpPr/>
          <p:nvPr/>
        </p:nvSpPr>
        <p:spPr>
          <a:xfrm>
            <a:off x="1920240" y="1463040"/>
            <a:ext cx="54864" cy="54864"/>
          </a:xfrm>
          <a:prstGeom prst="ellipse">
            <a:avLst/>
          </a:prstGeom>
          <a:solidFill>
            <a:srgbClr val="3FBAC2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07040" y="914400"/>
            <a:ext cx="54864" cy="54864"/>
          </a:xfrm>
          <a:prstGeom prst="ellipse">
            <a:avLst/>
          </a:prstGeom>
          <a:solidFill>
            <a:srgbClr val="3FBAC2"/>
          </a:solidFill>
          <a:ln/>
        </p:spPr>
      </p:sp>
      <p:sp>
        <p:nvSpPr>
          <p:cNvPr id="13" name="Shape 11"/>
          <p:cNvSpPr/>
          <p:nvPr/>
        </p:nvSpPr>
        <p:spPr>
          <a:xfrm>
            <a:off x="11338560" y="2194560"/>
            <a:ext cx="54864" cy="54864"/>
          </a:xfrm>
          <a:prstGeom prst="ellipse">
            <a:avLst/>
          </a:prstGeom>
          <a:solidFill>
            <a:srgbClr val="3FBAC2"/>
          </a:solidFill>
          <a:ln/>
        </p:spPr>
      </p:sp>
      <p:sp>
        <p:nvSpPr>
          <p:cNvPr id="14" name="Shape 12"/>
          <p:cNvSpPr/>
          <p:nvPr/>
        </p:nvSpPr>
        <p:spPr>
          <a:xfrm>
            <a:off x="1280160" y="4754880"/>
            <a:ext cx="54864" cy="54864"/>
          </a:xfrm>
          <a:prstGeom prst="ellipse">
            <a:avLst/>
          </a:prstGeom>
          <a:solidFill>
            <a:srgbClr val="3FBAC2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291840"/>
            <a:ext cx="54864" cy="54864"/>
          </a:xfrm>
          <a:prstGeom prst="ellipse">
            <a:avLst/>
          </a:prstGeom>
          <a:solidFill>
            <a:srgbClr val="3FBAC2"/>
          </a:solidFill>
          <a:ln/>
        </p:spPr>
      </p:sp>
      <p:sp>
        <p:nvSpPr>
          <p:cNvPr id="16" name="Shape 14"/>
          <p:cNvSpPr/>
          <p:nvPr/>
        </p:nvSpPr>
        <p:spPr>
          <a:xfrm>
            <a:off x="11612880" y="5303520"/>
            <a:ext cx="54864" cy="54864"/>
          </a:xfrm>
          <a:prstGeom prst="ellipse">
            <a:avLst/>
          </a:prstGeom>
          <a:solidFill>
            <a:srgbClr val="3FBAC2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868680"/>
            <a:ext cx="3383280" cy="402336"/>
          </a:xfrm>
          <a:prstGeom prst="roundRect">
            <a:avLst>
              <a:gd name="adj" fmla="val 18182"/>
            </a:avLst>
          </a:prstGeom>
          <a:solidFill>
            <a:srgbClr val="112E44"/>
          </a:solidFill>
          <a:ln w="12700">
            <a:solidFill>
              <a:srgbClr val="234A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86868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4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&amp; DEVOPS INTERNSHIP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60520" y="868680"/>
            <a:ext cx="2834640" cy="402336"/>
          </a:xfrm>
          <a:prstGeom prst="roundRect">
            <a:avLst>
              <a:gd name="adj" fmla="val 18182"/>
            </a:avLst>
          </a:prstGeom>
          <a:solidFill>
            <a:srgbClr val="112E44"/>
          </a:solidFill>
          <a:ln w="12700">
            <a:solidFill>
              <a:srgbClr val="234A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86868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MAY 2026 – 14 JUL 2026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1417320"/>
            <a:ext cx="9692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Static Website Hosting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CI/CD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658368" y="30632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automated, secure, and globally distributed cloud hosting pipeline built on Amazon Web Services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58368" y="3703320"/>
            <a:ext cx="2743200" cy="0"/>
          </a:xfrm>
          <a:prstGeom prst="line">
            <a:avLst/>
          </a:prstGeom>
          <a:noFill/>
          <a:ln w="19050">
            <a:solidFill>
              <a:srgbClr val="4DE8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0" y="3200400"/>
            <a:ext cx="1737360" cy="1737360"/>
          </a:xfrm>
          <a:prstGeom prst="ellipse">
            <a:avLst/>
          </a:prstGeom>
          <a:solidFill>
            <a:srgbClr val="0D2438"/>
          </a:solidFill>
          <a:ln w="19050">
            <a:solidFill>
              <a:srgbClr val="4DE8E0"/>
            </a:solidFill>
            <a:prstDash val="solid"/>
          </a:ln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3703320"/>
            <a:ext cx="731520" cy="7315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58368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58368" y="4261104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Sumana Bethala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J. Lovababu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58368" y="495604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Andhra Pradesh State Skill Development Corporation (APSSDC)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58368" y="5486400"/>
            <a:ext cx="1097280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8368" y="5623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58368" y="589788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4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Sandeep Gedela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4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Tedlapu Hemavardhan Ram Sai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4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Tedlapu Hima Vardhan Laxman Sai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6035040" y="589788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4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Penugonda Manasa Lakshmi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4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Revtish Muthineni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4754880" cy="4754880"/>
          </a:xfrm>
          <a:prstGeom prst="ellipse">
            <a:avLst/>
          </a:prstGeom>
          <a:ln w="15875">
            <a:solidFill>
              <a:srgbClr val="1E3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480560"/>
            <a:ext cx="4206240" cy="4206240"/>
          </a:xfrm>
          <a:prstGeom prst="ellipse">
            <a:avLst/>
          </a:prstGeom>
          <a:ln w="15875">
            <a:solidFill>
              <a:srgbClr val="1E3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DE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0020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5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769364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4520" y="160020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0080" y="2468880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246888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5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263804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74520" y="246888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640080" y="3337560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77240" y="333756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5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20" y="350672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333756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40080" y="4206240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777240" y="420624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5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7320" y="4375404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874520" y="420624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Workflow</a:t>
            </a:r>
            <a:endParaRPr lang="en-US" sz="1450" dirty="0"/>
          </a:p>
        </p:txBody>
      </p:sp>
      <p:sp>
        <p:nvSpPr>
          <p:cNvPr id="22" name="Shape 16"/>
          <p:cNvSpPr/>
          <p:nvPr/>
        </p:nvSpPr>
        <p:spPr>
          <a:xfrm>
            <a:off x="640080" y="5074920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77240" y="507492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5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7320" y="5244084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874520" y="507492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450" dirty="0"/>
          </a:p>
        </p:txBody>
      </p:sp>
      <p:sp>
        <p:nvSpPr>
          <p:cNvPr id="26" name="Shape 19"/>
          <p:cNvSpPr/>
          <p:nvPr/>
        </p:nvSpPr>
        <p:spPr>
          <a:xfrm>
            <a:off x="640080" y="5943600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777240" y="594360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5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112764"/>
            <a:ext cx="347472" cy="34747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874520" y="594360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Services Used</a:t>
            </a:r>
            <a:endParaRPr lang="en-US" sz="1450" dirty="0"/>
          </a:p>
        </p:txBody>
      </p:sp>
      <p:sp>
        <p:nvSpPr>
          <p:cNvPr id="30" name="Shape 22"/>
          <p:cNvSpPr/>
          <p:nvPr/>
        </p:nvSpPr>
        <p:spPr>
          <a:xfrm>
            <a:off x="6309360" y="1600200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6446520" y="160020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5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600" y="1769364"/>
            <a:ext cx="347472" cy="34747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543800" y="160020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450" dirty="0"/>
          </a:p>
        </p:txBody>
      </p:sp>
      <p:sp>
        <p:nvSpPr>
          <p:cNvPr id="34" name="Shape 25"/>
          <p:cNvSpPr/>
          <p:nvPr/>
        </p:nvSpPr>
        <p:spPr>
          <a:xfrm>
            <a:off x="6309360" y="2468880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6446520" y="246888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5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6600" y="2638044"/>
            <a:ext cx="347472" cy="34747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7543800" y="246888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1450" dirty="0"/>
          </a:p>
        </p:txBody>
      </p:sp>
      <p:sp>
        <p:nvSpPr>
          <p:cNvPr id="38" name="Shape 28"/>
          <p:cNvSpPr/>
          <p:nvPr/>
        </p:nvSpPr>
        <p:spPr>
          <a:xfrm>
            <a:off x="6309360" y="3337560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6446520" y="333756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5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800" dirty="0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86600" y="3506724"/>
            <a:ext cx="347472" cy="347472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7543800" y="333756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450" dirty="0"/>
          </a:p>
        </p:txBody>
      </p:sp>
      <p:sp>
        <p:nvSpPr>
          <p:cNvPr id="42" name="Shape 31"/>
          <p:cNvSpPr/>
          <p:nvPr/>
        </p:nvSpPr>
        <p:spPr>
          <a:xfrm>
            <a:off x="6309360" y="4206240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6446520" y="420624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5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86600" y="4375404"/>
            <a:ext cx="347472" cy="347472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7543800" y="420624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450" dirty="0"/>
          </a:p>
        </p:txBody>
      </p:sp>
      <p:sp>
        <p:nvSpPr>
          <p:cNvPr id="46" name="Shape 34"/>
          <p:cNvSpPr/>
          <p:nvPr/>
        </p:nvSpPr>
        <p:spPr>
          <a:xfrm>
            <a:off x="6309360" y="5074920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6446520" y="507492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5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800" dirty="0"/>
          </a:p>
        </p:txBody>
      </p:sp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86600" y="5244084"/>
            <a:ext cx="347472" cy="347472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7543800" y="507492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450" dirty="0"/>
          </a:p>
        </p:txBody>
      </p:sp>
      <p:sp>
        <p:nvSpPr>
          <p:cNvPr id="50" name="Shape 37"/>
          <p:cNvSpPr/>
          <p:nvPr/>
        </p:nvSpPr>
        <p:spPr>
          <a:xfrm>
            <a:off x="6309360" y="5943600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6446520" y="594360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5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800" dirty="0"/>
          </a:p>
        </p:txBody>
      </p:sp>
      <p:pic>
        <p:nvPicPr>
          <p:cNvPr id="52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86600" y="6112764"/>
            <a:ext cx="347472" cy="347472"/>
          </a:xfrm>
          <a:prstGeom prst="rect">
            <a:avLst/>
          </a:prstGeom>
        </p:spPr>
      </p:pic>
      <p:sp>
        <p:nvSpPr>
          <p:cNvPr id="53" name="Text 39"/>
          <p:cNvSpPr/>
          <p:nvPr/>
        </p:nvSpPr>
        <p:spPr>
          <a:xfrm>
            <a:off x="7543800" y="594360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50" dirty="0"/>
          </a:p>
        </p:txBody>
      </p:sp>
      <p:sp>
        <p:nvSpPr>
          <p:cNvPr id="54" name="Text 4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Static Website Hosting with CI/CD</a:t>
            </a:r>
            <a:endParaRPr lang="en-US" sz="900" dirty="0"/>
          </a:p>
        </p:txBody>
      </p:sp>
      <p:sp>
        <p:nvSpPr>
          <p:cNvPr id="55" name="Text 4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4754880" cy="4754880"/>
          </a:xfrm>
          <a:prstGeom prst="ellipse">
            <a:avLst/>
          </a:prstGeom>
          <a:ln w="15875">
            <a:solidFill>
              <a:srgbClr val="1E3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480560"/>
            <a:ext cx="4206240" cy="4206240"/>
          </a:xfrm>
          <a:prstGeom prst="ellipse">
            <a:avLst/>
          </a:prstGeom>
          <a:ln w="15875">
            <a:solidFill>
              <a:srgbClr val="1E3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DE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5760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has transformed how organizations deploy and scale web applications, removing the limits of traditional physical infrastructure. Amazon Web Services (AWS) offers a fully managed path to host, deliver, and automatically update a static website — combining storage, a global CDN, and a DevOps pipeline into one cohesive workflow.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5760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hosts a responsive static website on Amazon S3, accelerates delivery worldwide with Amazon CloudFront, and automatically redeploys the site the moment new code lands in GitHub — with IAM, CloudWatch, and SNS layered in for security and visibility.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0" y="1600200"/>
            <a:ext cx="4709160" cy="1051560"/>
          </a:xfrm>
          <a:prstGeom prst="roundRect">
            <a:avLst>
              <a:gd name="adj" fmla="val 8696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819656"/>
            <a:ext cx="59436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167335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DE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772400" y="21488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services integrated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858000" y="2834640"/>
            <a:ext cx="4709160" cy="1051560"/>
          </a:xfrm>
          <a:prstGeom prst="roundRect">
            <a:avLst>
              <a:gd name="adj" fmla="val 8696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3054096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772400" y="290779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DE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7772400" y="33832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deployment steps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858000" y="4069080"/>
            <a:ext cx="4709160" cy="1051560"/>
          </a:xfrm>
          <a:prstGeom prst="roundRect">
            <a:avLst>
              <a:gd name="adj" fmla="val 8696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4288536"/>
            <a:ext cx="594360" cy="5943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772400" y="414223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DE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2600" dirty="0"/>
          </a:p>
        </p:txBody>
      </p:sp>
      <p:sp>
        <p:nvSpPr>
          <p:cNvPr id="19" name="Text 14"/>
          <p:cNvSpPr/>
          <p:nvPr/>
        </p:nvSpPr>
        <p:spPr>
          <a:xfrm>
            <a:off x="7772400" y="46177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monitoring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Static Website Hosting with CI/CD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4754880" cy="4754880"/>
          </a:xfrm>
          <a:prstGeom prst="ellipse">
            <a:avLst/>
          </a:prstGeom>
          <a:ln w="15875">
            <a:solidFill>
              <a:srgbClr val="1E3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480560"/>
            <a:ext cx="4206240" cy="4206240"/>
          </a:xfrm>
          <a:prstGeom prst="ellipse">
            <a:avLst/>
          </a:prstGeom>
          <a:ln w="15875">
            <a:solidFill>
              <a:srgbClr val="1E3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DE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deployment is manual, slow, and error-prone — and without a CDN or monitoring, websites suffer higher latency and blind spots in operations.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679192"/>
            <a:ext cx="640080" cy="640080"/>
          </a:xfrm>
          <a:prstGeom prst="ellipse">
            <a:avLst/>
          </a:prstGeom>
          <a:solidFill>
            <a:srgbClr val="0D2438"/>
          </a:solidFill>
          <a:ln w="12700">
            <a:solidFill>
              <a:srgbClr val="234A63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816352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34747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Deployment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68680" y="393192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Uploading files by hand is time-consuming and increases the risk of human error.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474720" y="242316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703320" y="2679192"/>
            <a:ext cx="640080" cy="640080"/>
          </a:xfrm>
          <a:prstGeom prst="ellipse">
            <a:avLst/>
          </a:prstGeom>
          <a:solidFill>
            <a:srgbClr val="0D2438"/>
          </a:solidFill>
          <a:ln w="12700">
            <a:solidFill>
              <a:srgbClr val="234A63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2816352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03320" y="34747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Latency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703320" y="393192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directly from one region slows page loads for distant users.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309360" y="242316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537960" y="2679192"/>
            <a:ext cx="640080" cy="640080"/>
          </a:xfrm>
          <a:prstGeom prst="ellipse">
            <a:avLst/>
          </a:prstGeom>
          <a:solidFill>
            <a:srgbClr val="0D2438"/>
          </a:solidFill>
          <a:ln w="12700">
            <a:solidFill>
              <a:srgbClr val="234A63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2816352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37960" y="34747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Monitoring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537960" y="393192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visibility into traffic and errors, issues go unnoticed.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144000" y="242316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372600" y="2679192"/>
            <a:ext cx="640080" cy="640080"/>
          </a:xfrm>
          <a:prstGeom prst="ellipse">
            <a:avLst/>
          </a:prstGeom>
          <a:solidFill>
            <a:srgbClr val="0D2438"/>
          </a:solidFill>
          <a:ln w="12700">
            <a:solidFill>
              <a:srgbClr val="234A63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0" y="2816352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72600" y="34747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Access Control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372600" y="393192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buckets and shared credentials raise security risk.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Static Website Hosting with CI/CD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4754880" cy="4754880"/>
          </a:xfrm>
          <a:prstGeom prst="ellipse">
            <a:avLst/>
          </a:prstGeom>
          <a:ln w="15875">
            <a:solidFill>
              <a:srgbClr val="D8E8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480560"/>
            <a:ext cx="4206240" cy="4206240"/>
          </a:xfrm>
          <a:prstGeom prst="ellipse">
            <a:avLst/>
          </a:prstGeom>
          <a:ln w="15875">
            <a:solidFill>
              <a:srgbClr val="D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288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69164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the static website on Amazon S3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7373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8288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58000" y="169164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delivery globally with CloudFront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26334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72491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2587752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releases with AWS CodePipeline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263640" y="26334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2724912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858000" y="2587752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GitHub as the source repository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640080" y="352958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3621024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34440" y="3483864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 with Origin Access Control (OAC)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6263640" y="352958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3621024"/>
            <a:ext cx="274320" cy="27432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858000" y="3483864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least-privilege IAM roles &amp; groups</a:t>
            </a:r>
            <a:endParaRPr lang="en-US" sz="1350" dirty="0"/>
          </a:p>
        </p:txBody>
      </p:sp>
      <p:sp>
        <p:nvSpPr>
          <p:cNvPr id="24" name="Shape 16"/>
          <p:cNvSpPr/>
          <p:nvPr/>
        </p:nvSpPr>
        <p:spPr>
          <a:xfrm>
            <a:off x="640080" y="442569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4517136"/>
            <a:ext cx="274320" cy="27432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1234440" y="4379976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infrastructure with CloudWatch</a:t>
            </a:r>
            <a:endParaRPr lang="en-US" sz="1350" dirty="0"/>
          </a:p>
        </p:txBody>
      </p:sp>
      <p:sp>
        <p:nvSpPr>
          <p:cNvPr id="27" name="Shape 18"/>
          <p:cNvSpPr/>
          <p:nvPr/>
        </p:nvSpPr>
        <p:spPr>
          <a:xfrm>
            <a:off x="6263640" y="442569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5080" y="4517136"/>
            <a:ext cx="274320" cy="27432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858000" y="4379976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real-time alerts via Amazon SNS</a:t>
            </a:r>
            <a:endParaRPr lang="en-US" sz="1350" dirty="0"/>
          </a:p>
        </p:txBody>
      </p:sp>
      <p:sp>
        <p:nvSpPr>
          <p:cNvPr id="30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Static Website Hosting with CI/CD</a:t>
            </a:r>
            <a:endParaRPr lang="en-US" sz="900" dirty="0"/>
          </a:p>
        </p:txBody>
      </p:sp>
      <p:sp>
        <p:nvSpPr>
          <p:cNvPr id="31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4754880" cy="4754880"/>
          </a:xfrm>
          <a:prstGeom prst="ellipse">
            <a:avLst/>
          </a:prstGeom>
          <a:ln w="15875">
            <a:solidFill>
              <a:srgbClr val="1E3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480560"/>
            <a:ext cx="4206240" cy="4206240"/>
          </a:xfrm>
          <a:prstGeom prst="ellipse">
            <a:avLst/>
          </a:prstGeom>
          <a:ln w="15875">
            <a:solidFill>
              <a:srgbClr val="1E3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DE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Workflow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77824" y="2075688"/>
            <a:ext cx="0" cy="182880"/>
          </a:xfrm>
          <a:prstGeom prst="line">
            <a:avLst/>
          </a:prstGeom>
          <a:noFill/>
          <a:ln w="19050">
            <a:solidFill>
              <a:srgbClr val="27506A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280160" y="166420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 &amp; website development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25856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77824" y="2642616"/>
            <a:ext cx="0" cy="182880"/>
          </a:xfrm>
          <a:prstGeom prst="line">
            <a:avLst/>
          </a:prstGeom>
          <a:noFill/>
          <a:ln w="19050">
            <a:solidFill>
              <a:srgbClr val="27506A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280160" y="223113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S3 bucket &amp; upload website files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282549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77824" y="3209544"/>
            <a:ext cx="0" cy="182880"/>
          </a:xfrm>
          <a:prstGeom prst="line">
            <a:avLst/>
          </a:prstGeom>
          <a:noFill/>
          <a:ln w="19050">
            <a:solidFill>
              <a:srgbClr val="27506A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280160" y="279806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CloudFront + Origin Access Control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339242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77824" y="3776472"/>
            <a:ext cx="0" cy="182880"/>
          </a:xfrm>
          <a:prstGeom prst="line">
            <a:avLst/>
          </a:prstGeom>
          <a:noFill/>
          <a:ln w="19050">
            <a:solidFill>
              <a:srgbClr val="27506A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280160" y="336499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IAM users, groups &amp; least-privilege roles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395935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77824" y="4343400"/>
            <a:ext cx="0" cy="182880"/>
          </a:xfrm>
          <a:prstGeom prst="line">
            <a:avLst/>
          </a:prstGeom>
          <a:noFill/>
          <a:ln w="19050">
            <a:solidFill>
              <a:srgbClr val="27506A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280160" y="39319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GitHub repository to AWS CodePipeline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5800" y="45262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77824" y="4910328"/>
            <a:ext cx="0" cy="182880"/>
          </a:xfrm>
          <a:prstGeom prst="line">
            <a:avLst/>
          </a:prstGeom>
          <a:noFill/>
          <a:ln w="19050">
            <a:solidFill>
              <a:srgbClr val="27506A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280160" y="449884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build &amp; deploy on every commit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85800" y="509320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5093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77824" y="5477256"/>
            <a:ext cx="0" cy="182880"/>
          </a:xfrm>
          <a:prstGeom prst="line">
            <a:avLst/>
          </a:prstGeom>
          <a:noFill/>
          <a:ln w="19050">
            <a:solidFill>
              <a:srgbClr val="27506A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280160" y="50657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CloudWatch dashboard &amp; alarms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85800" y="5660136"/>
            <a:ext cx="384048" cy="384048"/>
          </a:xfrm>
          <a:prstGeom prst="ellipse">
            <a:avLst/>
          </a:prstGeom>
          <a:solidFill>
            <a:srgbClr val="F4B740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5660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280160" y="563270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SNS for email alerts, then test &amp; validate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178040" y="1645920"/>
            <a:ext cx="4343400" cy="4526280"/>
          </a:xfrm>
          <a:prstGeom prst="roundRect">
            <a:avLst>
              <a:gd name="adj" fmla="val 2526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52360" y="1874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STAGES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452360" y="2331720"/>
            <a:ext cx="3794760" cy="566928"/>
          </a:xfrm>
          <a:prstGeom prst="roundRect">
            <a:avLst>
              <a:gd name="adj" fmla="val 12903"/>
            </a:avLst>
          </a:prstGeom>
          <a:solidFill>
            <a:srgbClr val="123249"/>
          </a:solidFill>
          <a:ln w="12700">
            <a:solidFill>
              <a:srgbClr val="234A63"/>
            </a:solidFill>
            <a:prstDash val="solid"/>
          </a:ln>
        </p:spPr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441448"/>
            <a:ext cx="347472" cy="347472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8046720" y="233172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250" dirty="0"/>
          </a:p>
        </p:txBody>
      </p:sp>
      <p:sp>
        <p:nvSpPr>
          <p:cNvPr id="42" name="Text 39"/>
          <p:cNvSpPr/>
          <p:nvPr/>
        </p:nvSpPr>
        <p:spPr>
          <a:xfrm>
            <a:off x="9052560" y="286207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DE8E0"/>
                </a:solidFill>
              </a:rPr>
              <a:t>▾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7452360" y="3081528"/>
            <a:ext cx="3794760" cy="566928"/>
          </a:xfrm>
          <a:prstGeom prst="roundRect">
            <a:avLst>
              <a:gd name="adj" fmla="val 12903"/>
            </a:avLst>
          </a:prstGeom>
          <a:solidFill>
            <a:srgbClr val="123249"/>
          </a:solidFill>
          <a:ln w="12700">
            <a:solidFill>
              <a:srgbClr val="234A63"/>
            </a:solidFill>
            <a:prstDash val="solid"/>
          </a:ln>
        </p:spPr>
      </p:sp>
      <p:pic>
        <p:nvPicPr>
          <p:cNvPr id="4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3191256"/>
            <a:ext cx="347472" cy="347472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8046720" y="308152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Stage</a:t>
            </a:r>
            <a:endParaRPr lang="en-US" sz="1250" dirty="0"/>
          </a:p>
        </p:txBody>
      </p:sp>
      <p:sp>
        <p:nvSpPr>
          <p:cNvPr id="46" name="Text 42"/>
          <p:cNvSpPr/>
          <p:nvPr/>
        </p:nvSpPr>
        <p:spPr>
          <a:xfrm>
            <a:off x="9052560" y="36118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DE8E0"/>
                </a:solidFill>
              </a:rPr>
              <a:t>▾</a:t>
            </a:r>
            <a:endParaRPr lang="en-US" sz="1200" dirty="0"/>
          </a:p>
        </p:txBody>
      </p:sp>
      <p:sp>
        <p:nvSpPr>
          <p:cNvPr id="47" name="Shape 43"/>
          <p:cNvSpPr/>
          <p:nvPr/>
        </p:nvSpPr>
        <p:spPr>
          <a:xfrm>
            <a:off x="7452360" y="3831336"/>
            <a:ext cx="3794760" cy="566928"/>
          </a:xfrm>
          <a:prstGeom prst="roundRect">
            <a:avLst>
              <a:gd name="adj" fmla="val 12903"/>
            </a:avLst>
          </a:prstGeom>
          <a:solidFill>
            <a:srgbClr val="123249"/>
          </a:solidFill>
          <a:ln w="12700">
            <a:solidFill>
              <a:srgbClr val="234A63"/>
            </a:solidFill>
            <a:prstDash val="solid"/>
          </a:ln>
        </p:spPr>
      </p:sp>
      <p:pic>
        <p:nvPicPr>
          <p:cNvPr id="4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3941064"/>
            <a:ext cx="347472" cy="347472"/>
          </a:xfrm>
          <a:prstGeom prst="rect">
            <a:avLst/>
          </a:prstGeom>
        </p:spPr>
      </p:pic>
      <p:sp>
        <p:nvSpPr>
          <p:cNvPr id="49" name="Text 44"/>
          <p:cNvSpPr/>
          <p:nvPr/>
        </p:nvSpPr>
        <p:spPr>
          <a:xfrm>
            <a:off x="8046720" y="383133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Stage</a:t>
            </a:r>
            <a:endParaRPr lang="en-US" sz="1250" dirty="0"/>
          </a:p>
        </p:txBody>
      </p:sp>
      <p:sp>
        <p:nvSpPr>
          <p:cNvPr id="50" name="Text 45"/>
          <p:cNvSpPr/>
          <p:nvPr/>
        </p:nvSpPr>
        <p:spPr>
          <a:xfrm>
            <a:off x="9052560" y="436168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DE8E0"/>
                </a:solidFill>
              </a:rPr>
              <a:t>▾</a:t>
            </a:r>
            <a:endParaRPr lang="en-US" sz="1200" dirty="0"/>
          </a:p>
        </p:txBody>
      </p:sp>
      <p:sp>
        <p:nvSpPr>
          <p:cNvPr id="51" name="Shape 46"/>
          <p:cNvSpPr/>
          <p:nvPr/>
        </p:nvSpPr>
        <p:spPr>
          <a:xfrm>
            <a:off x="7452360" y="4581144"/>
            <a:ext cx="3794760" cy="566928"/>
          </a:xfrm>
          <a:prstGeom prst="roundRect">
            <a:avLst>
              <a:gd name="adj" fmla="val 12903"/>
            </a:avLst>
          </a:prstGeom>
          <a:solidFill>
            <a:srgbClr val="123249"/>
          </a:solidFill>
          <a:ln w="12700">
            <a:solidFill>
              <a:srgbClr val="234A63"/>
            </a:solidFill>
            <a:prstDash val="solid"/>
          </a:ln>
        </p:spPr>
      </p:sp>
      <p:pic>
        <p:nvPicPr>
          <p:cNvPr id="5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4690872"/>
            <a:ext cx="347472" cy="347472"/>
          </a:xfrm>
          <a:prstGeom prst="rect">
            <a:avLst/>
          </a:prstGeom>
        </p:spPr>
      </p:pic>
      <p:sp>
        <p:nvSpPr>
          <p:cNvPr id="53" name="Text 47"/>
          <p:cNvSpPr/>
          <p:nvPr/>
        </p:nvSpPr>
        <p:spPr>
          <a:xfrm>
            <a:off x="8046720" y="458114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Bucket</a:t>
            </a:r>
            <a:endParaRPr lang="en-US" sz="1250" dirty="0"/>
          </a:p>
        </p:txBody>
      </p:sp>
      <p:sp>
        <p:nvSpPr>
          <p:cNvPr id="54" name="Text 48"/>
          <p:cNvSpPr/>
          <p:nvPr/>
        </p:nvSpPr>
        <p:spPr>
          <a:xfrm>
            <a:off x="9052560" y="511149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DE8E0"/>
                </a:solidFill>
              </a:rPr>
              <a:t>▾</a:t>
            </a:r>
            <a:endParaRPr lang="en-US" sz="1200" dirty="0"/>
          </a:p>
        </p:txBody>
      </p:sp>
      <p:sp>
        <p:nvSpPr>
          <p:cNvPr id="55" name="Shape 49"/>
          <p:cNvSpPr/>
          <p:nvPr/>
        </p:nvSpPr>
        <p:spPr>
          <a:xfrm>
            <a:off x="7452360" y="5330952"/>
            <a:ext cx="3794760" cy="566928"/>
          </a:xfrm>
          <a:prstGeom prst="roundRect">
            <a:avLst>
              <a:gd name="adj" fmla="val 12903"/>
            </a:avLst>
          </a:prstGeom>
          <a:solidFill>
            <a:srgbClr val="123249"/>
          </a:solidFill>
          <a:ln w="12700">
            <a:solidFill>
              <a:srgbClr val="234A63"/>
            </a:solidFill>
            <a:prstDash val="solid"/>
          </a:ln>
        </p:spPr>
      </p:sp>
      <p:pic>
        <p:nvPicPr>
          <p:cNvPr id="5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0" y="5440680"/>
            <a:ext cx="347472" cy="347472"/>
          </a:xfrm>
          <a:prstGeom prst="rect">
            <a:avLst/>
          </a:prstGeom>
        </p:spPr>
      </p:pic>
      <p:sp>
        <p:nvSpPr>
          <p:cNvPr id="57" name="Text 50"/>
          <p:cNvSpPr/>
          <p:nvPr/>
        </p:nvSpPr>
        <p:spPr>
          <a:xfrm>
            <a:off x="8046720" y="533095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via CloudFront</a:t>
            </a:r>
            <a:endParaRPr lang="en-US" sz="1250" dirty="0"/>
          </a:p>
        </p:txBody>
      </p:sp>
      <p:sp>
        <p:nvSpPr>
          <p:cNvPr id="58" name="Text 5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Static Website Hosting with CI/CD</a:t>
            </a:r>
            <a:endParaRPr lang="en-US" sz="900" dirty="0"/>
          </a:p>
        </p:txBody>
      </p:sp>
      <p:sp>
        <p:nvSpPr>
          <p:cNvPr id="59" name="Text 5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4754880" cy="4754880"/>
          </a:xfrm>
          <a:prstGeom prst="ellipse">
            <a:avLst/>
          </a:prstGeom>
          <a:ln w="15875">
            <a:solidFill>
              <a:srgbClr val="D8E8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480560"/>
            <a:ext cx="4206240" cy="4206240"/>
          </a:xfrm>
          <a:prstGeom prst="ellipse">
            <a:avLst/>
          </a:prstGeom>
          <a:ln w="15875">
            <a:solidFill>
              <a:srgbClr val="D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6400800" cy="40233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Platform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Web Services (AWS)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S3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CloudFront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IAM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CodePipeline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CloudWatch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SNS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HTML5, CSS3, JavaScript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Code, AWS Console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52360" y="1783080"/>
            <a:ext cx="502920" cy="502920"/>
          </a:xfrm>
          <a:prstGeom prst="ellipse">
            <a:avLst/>
          </a:prstGeom>
          <a:solidFill>
            <a:srgbClr val="0F233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232" y="1901952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92440" y="17830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&amp; fully managed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452360" y="2560320"/>
            <a:ext cx="502920" cy="502920"/>
          </a:xfrm>
          <a:prstGeom prst="ellipse">
            <a:avLst/>
          </a:prstGeom>
          <a:solidFill>
            <a:srgbClr val="0F233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232" y="267919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92440" y="25603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low-latency delivery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7452360" y="3337560"/>
            <a:ext cx="502920" cy="502920"/>
          </a:xfrm>
          <a:prstGeom prst="ellipse">
            <a:avLst/>
          </a:prstGeom>
          <a:solidFill>
            <a:srgbClr val="0F2338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1232" y="3456432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092440" y="33375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least-privilege access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7452360" y="4114800"/>
            <a:ext cx="502920" cy="502920"/>
          </a:xfrm>
          <a:prstGeom prst="ellipse">
            <a:avLst/>
          </a:prstGeom>
          <a:solidFill>
            <a:srgbClr val="0F2338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1232" y="423367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092440" y="41148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Push-to-deploy automation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Static Website Hosting with CI/CD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4754880" cy="4754880"/>
          </a:xfrm>
          <a:prstGeom prst="ellipse">
            <a:avLst/>
          </a:prstGeom>
          <a:ln w="15875">
            <a:solidFill>
              <a:srgbClr val="1E3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480560"/>
            <a:ext cx="4206240" cy="4206240"/>
          </a:xfrm>
          <a:prstGeom prst="ellipse">
            <a:avLst/>
          </a:prstGeom>
          <a:ln w="15875">
            <a:solidFill>
              <a:srgbClr val="1E3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DE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Services Used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3968496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Service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4DE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S3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9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Hosts and stores static website files with high durability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4DE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CloudFront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9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CDN for low-latency, HTTPS content delivery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4DE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CodePipeline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9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Automates build &amp; deployment on every GitHub commit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4DE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IAM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9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Role-based, least-privilege access for users and groups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4DE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CloudWatch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9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Dashboards and alarms for real-time monitoring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4DE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SNS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9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Sends email alerts when alarm thresholds are breached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Static Website Hosting with CI/CD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4754880" cy="4754880"/>
          </a:xfrm>
          <a:prstGeom prst="ellipse">
            <a:avLst/>
          </a:prstGeom>
          <a:ln w="15875">
            <a:solidFill>
              <a:srgbClr val="D8E8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480560"/>
            <a:ext cx="4206240" cy="4206240"/>
          </a:xfrm>
          <a:prstGeom prst="ellipse">
            <a:avLst/>
          </a:prstGeom>
          <a:ln w="15875">
            <a:solidFill>
              <a:srgbClr val="D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17830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884" y="207568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4231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423160" y="219456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743200" y="1965960"/>
            <a:ext cx="17830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1004" y="207568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43200" y="24231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CodePipeline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526280" y="219456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4846320" y="1965960"/>
            <a:ext cx="17830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4124" y="2075688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46320" y="24231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(Origin)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6629400" y="219456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6949440" y="1965960"/>
            <a:ext cx="17830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7244" y="2075688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49440" y="24231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8732520" y="219456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16"/>
          <p:cNvSpPr/>
          <p:nvPr/>
        </p:nvSpPr>
        <p:spPr>
          <a:xfrm>
            <a:off x="9052560" y="1965960"/>
            <a:ext cx="17830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0364" y="2075688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4231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Users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4572000" y="2926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via Origin Access Control (OAC)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5737860" y="2834640"/>
            <a:ext cx="0" cy="868680"/>
          </a:xfrm>
          <a:prstGeom prst="line">
            <a:avLst/>
          </a:prstGeom>
          <a:noFill/>
          <a:ln w="15875">
            <a:solidFill>
              <a:srgbClr val="9FB8C9"/>
            </a:solidFill>
            <a:prstDash val="dash"/>
          </a:ln>
        </p:spPr>
      </p:sp>
      <p:sp>
        <p:nvSpPr>
          <p:cNvPr id="27" name="Shape 20"/>
          <p:cNvSpPr/>
          <p:nvPr/>
        </p:nvSpPr>
        <p:spPr>
          <a:xfrm>
            <a:off x="1737360" y="3703320"/>
            <a:ext cx="1783080" cy="868680"/>
          </a:xfrm>
          <a:prstGeom prst="roundRect">
            <a:avLst>
              <a:gd name="adj" fmla="val 10526"/>
            </a:avLst>
          </a:prstGeom>
          <a:solidFill>
            <a:srgbClr val="FFF7E8"/>
          </a:solidFill>
          <a:ln w="13970">
            <a:solidFill>
              <a:srgbClr val="F4B740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55164" y="3813048"/>
            <a:ext cx="347472" cy="34747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737360" y="41605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1050" dirty="0"/>
          </a:p>
        </p:txBody>
      </p:sp>
      <p:sp>
        <p:nvSpPr>
          <p:cNvPr id="30" name="Text 22"/>
          <p:cNvSpPr/>
          <p:nvPr/>
        </p:nvSpPr>
        <p:spPr>
          <a:xfrm>
            <a:off x="3520440" y="393192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B740"/>
                </a:solidFill>
              </a:rPr>
              <a:t>→</a:t>
            </a:r>
            <a:endParaRPr lang="en-US" sz="2000" dirty="0"/>
          </a:p>
        </p:txBody>
      </p:sp>
      <p:sp>
        <p:nvSpPr>
          <p:cNvPr id="31" name="Shape 23"/>
          <p:cNvSpPr/>
          <p:nvPr/>
        </p:nvSpPr>
        <p:spPr>
          <a:xfrm>
            <a:off x="3840480" y="3703320"/>
            <a:ext cx="1783080" cy="868680"/>
          </a:xfrm>
          <a:prstGeom prst="roundRect">
            <a:avLst>
              <a:gd name="adj" fmla="val 10526"/>
            </a:avLst>
          </a:prstGeom>
          <a:solidFill>
            <a:srgbClr val="FFF7E8"/>
          </a:solidFill>
          <a:ln w="13970">
            <a:solidFill>
              <a:srgbClr val="F4B740"/>
            </a:solidFill>
            <a:prstDash val="solid"/>
          </a:ln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58284" y="3813048"/>
            <a:ext cx="347472" cy="34747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3840480" y="41605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</a:t>
            </a:r>
            <a:endParaRPr lang="en-US" sz="1050" dirty="0"/>
          </a:p>
        </p:txBody>
      </p:sp>
      <p:sp>
        <p:nvSpPr>
          <p:cNvPr id="34" name="Text 25"/>
          <p:cNvSpPr/>
          <p:nvPr/>
        </p:nvSpPr>
        <p:spPr>
          <a:xfrm>
            <a:off x="5623560" y="393192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B740"/>
                </a:solidFill>
              </a:rPr>
              <a:t>→</a:t>
            </a:r>
            <a:endParaRPr lang="en-US" sz="2000" dirty="0"/>
          </a:p>
        </p:txBody>
      </p:sp>
      <p:sp>
        <p:nvSpPr>
          <p:cNvPr id="35" name="Shape 26"/>
          <p:cNvSpPr/>
          <p:nvPr/>
        </p:nvSpPr>
        <p:spPr>
          <a:xfrm>
            <a:off x="5943600" y="3703320"/>
            <a:ext cx="1783080" cy="868680"/>
          </a:xfrm>
          <a:prstGeom prst="roundRect">
            <a:avLst>
              <a:gd name="adj" fmla="val 10526"/>
            </a:avLst>
          </a:prstGeom>
          <a:solidFill>
            <a:srgbClr val="FFF7E8"/>
          </a:solidFill>
          <a:ln w="13970">
            <a:solidFill>
              <a:srgbClr val="F4B740"/>
            </a:solidFill>
            <a:prstDash val="solid"/>
          </a:ln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61404" y="3813048"/>
            <a:ext cx="347472" cy="34747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943600" y="41605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</a:t>
            </a:r>
            <a:endParaRPr lang="en-US" sz="1050" dirty="0"/>
          </a:p>
        </p:txBody>
      </p:sp>
      <p:sp>
        <p:nvSpPr>
          <p:cNvPr id="38" name="Text 28"/>
          <p:cNvSpPr/>
          <p:nvPr/>
        </p:nvSpPr>
        <p:spPr>
          <a:xfrm>
            <a:off x="7726680" y="393192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B740"/>
                </a:solidFill>
              </a:rPr>
              <a:t>→</a:t>
            </a:r>
            <a:endParaRPr lang="en-US" sz="2000" dirty="0"/>
          </a:p>
        </p:txBody>
      </p:sp>
      <p:sp>
        <p:nvSpPr>
          <p:cNvPr id="39" name="Shape 29"/>
          <p:cNvSpPr/>
          <p:nvPr/>
        </p:nvSpPr>
        <p:spPr>
          <a:xfrm>
            <a:off x="8046720" y="3703320"/>
            <a:ext cx="1783080" cy="868680"/>
          </a:xfrm>
          <a:prstGeom prst="roundRect">
            <a:avLst>
              <a:gd name="adj" fmla="val 10526"/>
            </a:avLst>
          </a:prstGeom>
          <a:solidFill>
            <a:srgbClr val="FFF7E8"/>
          </a:solidFill>
          <a:ln w="13970">
            <a:solidFill>
              <a:srgbClr val="F4B740"/>
            </a:solidFill>
            <a:prstDash val="solid"/>
          </a:ln>
        </p:spPr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64524" y="3813048"/>
            <a:ext cx="347472" cy="347472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8046720" y="41605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050" dirty="0"/>
          </a:p>
        </p:txBody>
      </p:sp>
      <p:sp>
        <p:nvSpPr>
          <p:cNvPr id="42" name="Text 31"/>
          <p:cNvSpPr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 to GitHub triggers CodePipeline, which redeploys to S3; CloudFront then serves the update globally, while CloudWatch and SNS keep watch around the clock.</a:t>
            </a:r>
            <a:endParaRPr lang="en-US" sz="1150" dirty="0"/>
          </a:p>
        </p:txBody>
      </p:sp>
      <p:sp>
        <p:nvSpPr>
          <p:cNvPr id="43" name="Text 3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Static Website Hosting with CI/CD</a:t>
            </a:r>
            <a:endParaRPr lang="en-US" sz="900" dirty="0"/>
          </a:p>
        </p:txBody>
      </p:sp>
      <p:sp>
        <p:nvSpPr>
          <p:cNvPr id="44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4754880" cy="4754880"/>
          </a:xfrm>
          <a:prstGeom prst="ellipse">
            <a:avLst/>
          </a:prstGeom>
          <a:ln w="15875">
            <a:solidFill>
              <a:srgbClr val="1E3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480560"/>
            <a:ext cx="4206240" cy="4206240"/>
          </a:xfrm>
          <a:prstGeom prst="ellipse">
            <a:avLst/>
          </a:prstGeom>
          <a:ln w="15875">
            <a:solidFill>
              <a:srgbClr val="1E3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DE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Architecture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947672"/>
            <a:ext cx="640080" cy="640080"/>
          </a:xfrm>
          <a:prstGeom prst="ellipse">
            <a:avLst/>
          </a:prstGeom>
          <a:solidFill>
            <a:srgbClr val="0D2438"/>
          </a:solidFill>
          <a:ln w="12700">
            <a:solidFill>
              <a:srgbClr val="4DE8E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08483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7432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S3 Bucket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680" y="320040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files are never publicly exposed; only CloudFront can reach them.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0" y="16916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03320" y="1947672"/>
            <a:ext cx="640080" cy="640080"/>
          </a:xfrm>
          <a:prstGeom prst="ellipse">
            <a:avLst/>
          </a:prstGeom>
          <a:solidFill>
            <a:srgbClr val="0D2438"/>
          </a:solidFill>
          <a:ln w="12700">
            <a:solidFill>
              <a:srgbClr val="4DE8E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208483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03320" y="27432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Access Control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703320" y="320040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OAC restricts the S3 origin so requests must pass through CloudFront.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309360" y="16916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537960" y="1947672"/>
            <a:ext cx="640080" cy="640080"/>
          </a:xfrm>
          <a:prstGeom prst="ellipse">
            <a:avLst/>
          </a:prstGeom>
          <a:solidFill>
            <a:srgbClr val="0D2438"/>
          </a:solidFill>
          <a:ln w="12700">
            <a:solidFill>
              <a:srgbClr val="4DE8E0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2084832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37960" y="27432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Least Privilege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537960" y="320040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users and groups get only the permissions their role needs.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9144000" y="16916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372600" y="1947672"/>
            <a:ext cx="640080" cy="640080"/>
          </a:xfrm>
          <a:prstGeom prst="ellipse">
            <a:avLst/>
          </a:prstGeom>
          <a:solidFill>
            <a:srgbClr val="0D2438"/>
          </a:solidFill>
          <a:ln w="12700">
            <a:solidFill>
              <a:srgbClr val="4DE8E0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0" y="2084832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72600" y="27432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Everywhere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9372600" y="320040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enforces encrypted delivery for every visitor.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40080" y="47548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Group Structure:  Administrator  →  S3 Team  ·  CloudFront Team  ·  CloudWatch Team  ·  CodePipeline Team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Static Website Hosting with CI/CD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4754880" cy="4754880"/>
          </a:xfrm>
          <a:prstGeom prst="ellipse">
            <a:avLst/>
          </a:prstGeom>
          <a:ln w="15875">
            <a:solidFill>
              <a:srgbClr val="D8E8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480560"/>
            <a:ext cx="4206240" cy="4206240"/>
          </a:xfrm>
          <a:prstGeom prst="ellipse">
            <a:avLst/>
          </a:prstGeom>
          <a:ln w="15875">
            <a:solidFill>
              <a:srgbClr val="D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Testing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6675120" cy="3456432"/>
        </p:xfrm>
        <a:graphic>
          <a:graphicData uri="http://schemas.openxmlformats.org/drawingml/2006/table">
            <a:tbl>
              <a:tblPr/>
              <a:tblGrid>
                <a:gridCol w="484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website loading &amp; responsiveness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CloudFront global distribution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 Access Control (OAC)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→ CodePipeline trigger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deployment to S3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CloudWatch dashboard &amp; alarm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SNS email notification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 permission boundaries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1691640"/>
            <a:ext cx="3886200" cy="1417320"/>
          </a:xfrm>
          <a:prstGeom prst="roundRect">
            <a:avLst>
              <a:gd name="adj" fmla="val 7742"/>
            </a:avLst>
          </a:prstGeom>
          <a:solidFill>
            <a:srgbClr val="0F2338"/>
          </a:solidFill>
          <a:ln/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635240" y="1828800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DE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7635240" y="26060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passed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635240" y="3337560"/>
            <a:ext cx="3886200" cy="1417320"/>
          </a:xfrm>
          <a:prstGeom prst="roundRect">
            <a:avLst>
              <a:gd name="adj" fmla="val 7742"/>
            </a:avLst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7635240" y="3474720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6" name="Text 9"/>
          <p:cNvSpPr/>
          <p:nvPr/>
        </p:nvSpPr>
        <p:spPr>
          <a:xfrm>
            <a:off x="7635240" y="42519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redeployments needed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Static Website Hosting with CI/CD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4754880" cy="4754880"/>
          </a:xfrm>
          <a:prstGeom prst="ellipse">
            <a:avLst/>
          </a:prstGeom>
          <a:ln w="15875">
            <a:solidFill>
              <a:srgbClr val="1E3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480560"/>
            <a:ext cx="4206240" cy="4206240"/>
          </a:xfrm>
          <a:prstGeom prst="ellipse">
            <a:avLst/>
          </a:prstGeom>
          <a:ln w="15875">
            <a:solidFill>
              <a:srgbClr val="1E3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DE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19656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719072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Propagation Delay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846320" y="1719072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distributions took several minutes to become globally available.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505456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7919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57860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OAC &amp; Bucket Policy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46320" y="2578608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policy had to be updated precisely for CloudFront to fetch objects.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364992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538728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438144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Least Privilege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846320" y="343814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minimal access with each teammate's actual responsibilities.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40080" y="4224528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398264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17320" y="429768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Integration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846320" y="4297680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GitHub permissions correctly before deployments ran cleanly.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40080" y="5084064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25780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17320" y="515721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Threshold Tuning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4846320" y="5157216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meaningful CloudWatch metrics and thresholds for real alerts.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Static Website Hosting with CI/CD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4754880" cy="4754880"/>
          </a:xfrm>
          <a:prstGeom prst="ellipse">
            <a:avLst/>
          </a:prstGeom>
          <a:ln w="15875">
            <a:solidFill>
              <a:srgbClr val="D8E8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480560"/>
            <a:ext cx="4206240" cy="4206240"/>
          </a:xfrm>
          <a:prstGeom prst="ellipse">
            <a:avLst/>
          </a:prstGeom>
          <a:ln w="15875">
            <a:solidFill>
              <a:srgbClr val="D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3E4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08483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6517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Domain via Route 53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560320" y="18745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7D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74720" y="173736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3E4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703320" y="1965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92" y="2084832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57600" y="26517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with AWS Certificate Manager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394960" y="18745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7D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309360" y="173736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3E4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37960" y="1965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832" y="2084832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92240" y="26517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(Terraform/CFN)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8229600" y="18745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7D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9144000" y="173736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3E4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372600" y="1965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1472" y="2084832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26880" y="26517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WAF for web application security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064240" y="18745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7D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40080" y="393192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3E4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68680" y="41605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552" y="4279392"/>
            <a:ext cx="310896" cy="31089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22960" y="48463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as an alternate CI/CD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2560320" y="4069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7D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3474720" y="393192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3E4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703320" y="41605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22192" y="4279392"/>
            <a:ext cx="310896" cy="31089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657600" y="48463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Logs Insights for deep analysis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5394960" y="4069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7D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6309360" y="393192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3E4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537960" y="41605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6832" y="4279392"/>
            <a:ext cx="310896" cy="310896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492240" y="48463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deployment for resilience</a:t>
            </a:r>
            <a:endParaRPr lang="en-US" sz="1150" dirty="0"/>
          </a:p>
        </p:txBody>
      </p:sp>
      <p:sp>
        <p:nvSpPr>
          <p:cNvPr id="40" name="Text 31"/>
          <p:cNvSpPr/>
          <p:nvPr/>
        </p:nvSpPr>
        <p:spPr>
          <a:xfrm>
            <a:off x="8229600" y="4069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7D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9144000" y="393192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3E4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9372600" y="41605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91472" y="4279392"/>
            <a:ext cx="310896" cy="310896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9326880" y="48463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 stage in the pipeline</a:t>
            </a:r>
            <a:endParaRPr lang="en-US" sz="1150" dirty="0"/>
          </a:p>
        </p:txBody>
      </p:sp>
      <p:sp>
        <p:nvSpPr>
          <p:cNvPr id="45" name="Text 35"/>
          <p:cNvSpPr/>
          <p:nvPr/>
        </p:nvSpPr>
        <p:spPr>
          <a:xfrm>
            <a:off x="11064240" y="4069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7D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200" dirty="0"/>
          </a:p>
        </p:txBody>
      </p:sp>
      <p:sp>
        <p:nvSpPr>
          <p:cNvPr id="46" name="Text 3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Static Website Hosting with CI/CD</a:t>
            </a:r>
            <a:endParaRPr lang="en-US" sz="900" dirty="0"/>
          </a:p>
        </p:txBody>
      </p:sp>
      <p:sp>
        <p:nvSpPr>
          <p:cNvPr id="47" name="Text 3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4754880" cy="4754880"/>
          </a:xfrm>
          <a:prstGeom prst="ellipse">
            <a:avLst/>
          </a:prstGeom>
          <a:ln w="15875">
            <a:solidFill>
              <a:srgbClr val="1E3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480560"/>
            <a:ext cx="4206240" cy="4206240"/>
          </a:xfrm>
          <a:prstGeom prst="ellipse">
            <a:avLst/>
          </a:prstGeom>
          <a:ln w="15875">
            <a:solidFill>
              <a:srgbClr val="1E3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DE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successfully delivers a secure, automated, and globally distributed static website hosting solution on AWS. By combining Amazon S3, CloudFront, CodePipeline, IAM, CloudWatch, and SNS, every GitHub commit now flows into production without manual intervention — while monitoring and alerting keep the system observable and trustworthy.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212" y="3474720"/>
            <a:ext cx="493776" cy="4937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40690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deployment steps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74720" y="324612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0852" y="3474720"/>
            <a:ext cx="493776" cy="4937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40690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low-latency delivery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309360" y="324612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5492" y="3474720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46520" y="40690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secure access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9144000" y="324612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0132" y="3474720"/>
            <a:ext cx="493776" cy="49377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81160" y="40690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&amp; alerts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40080" y="50749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 represents the successful completion of the AWS Cloud &amp; DevOps Internship at APSSDC, reflecting hands-on mastery of cloud architecture, DevOps automation, and security best practices.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Static Website Hosting with CI/CD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26080" y="-2926080"/>
            <a:ext cx="8229600" cy="8229600"/>
          </a:xfrm>
          <a:prstGeom prst="ellipse">
            <a:avLst/>
          </a:prstGeom>
          <a:solidFill>
            <a:srgbClr val="13324A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7315200" cy="7315200"/>
          </a:xfrm>
          <a:prstGeom prst="ellipse">
            <a:avLst/>
          </a:prstGeom>
          <a:solidFill>
            <a:srgbClr val="0E2A3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7223760" y="-1828800"/>
            <a:ext cx="7498080" cy="7498080"/>
          </a:xfrm>
          <a:prstGeom prst="ellipse">
            <a:avLst/>
          </a:prstGeom>
          <a:ln w="12700">
            <a:solidFill>
              <a:srgbClr val="224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2011680" y="3840480"/>
            <a:ext cx="5120640" cy="5120640"/>
          </a:xfrm>
          <a:prstGeom prst="ellipse">
            <a:avLst/>
          </a:prstGeom>
          <a:ln w="12700">
            <a:solidFill>
              <a:srgbClr val="224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0" y="-1280160"/>
            <a:ext cx="4937760" cy="4937760"/>
          </a:xfrm>
          <a:prstGeom prst="ellipse">
            <a:avLst/>
          </a:prstGeom>
          <a:ln w="27940">
            <a:solidFill>
              <a:srgbClr val="4DE8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331720"/>
            <a:ext cx="2377440" cy="0"/>
          </a:xfrm>
          <a:prstGeom prst="line">
            <a:avLst/>
          </a:prstGeom>
          <a:noFill/>
          <a:ln w="19050">
            <a:solidFill>
              <a:srgbClr val="4DE8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42316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Static Website Hosting with CI/CD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40690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4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Sandeep Gedela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4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Tedlapu Hemavardhan Ram Sai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4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Tedlapu Hima Vardhan Laxman Sai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852160" y="40690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4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Penugonda Manasa Lakshmi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4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Revtish Muthineni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5074920"/>
            <a:ext cx="7315200" cy="4572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/>
          <a:lstStyle/>
          <a:p>
            <a:r>
              <a:rPr lang="en-US" b="1" dirty="0">
                <a:highlight>
                  <a:srgbClr val="C0C0C0"/>
                </a:highlight>
              </a:rPr>
              <a:t>https://github.com/Manasa-266/Static_Website-CICD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1202</Words>
  <Application>Microsoft Office PowerPoint</Application>
  <PresentationFormat>Widescreen</PresentationFormat>
  <Paragraphs>295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Static Website Hosting with CI/CD</dc:title>
  <dc:subject>PptxGenJS Presentation</dc:subject>
  <dc:creator>Sai Sandeep Gedela</dc:creator>
  <cp:lastModifiedBy>Manasa Lakshmi</cp:lastModifiedBy>
  <cp:revision>2</cp:revision>
  <dcterms:created xsi:type="dcterms:W3CDTF">2026-07-08T18:16:24Z</dcterms:created>
  <dcterms:modified xsi:type="dcterms:W3CDTF">2026-07-31T08:23:15Z</dcterms:modified>
</cp:coreProperties>
</file>